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6" r:id="rId1"/>
  </p:sldMasterIdLst>
  <p:notesMasterIdLst>
    <p:notesMasterId r:id="rId41"/>
  </p:notesMasterIdLst>
  <p:sldIdLst>
    <p:sldId id="300" r:id="rId2"/>
    <p:sldId id="257" r:id="rId3"/>
    <p:sldId id="265" r:id="rId4"/>
    <p:sldId id="266" r:id="rId5"/>
    <p:sldId id="263" r:id="rId6"/>
    <p:sldId id="267" r:id="rId7"/>
    <p:sldId id="268" r:id="rId8"/>
    <p:sldId id="275" r:id="rId9"/>
    <p:sldId id="276" r:id="rId10"/>
    <p:sldId id="277" r:id="rId11"/>
    <p:sldId id="278" r:id="rId12"/>
    <p:sldId id="269" r:id="rId13"/>
    <p:sldId id="279" r:id="rId14"/>
    <p:sldId id="283" r:id="rId15"/>
    <p:sldId id="280" r:id="rId16"/>
    <p:sldId id="281" r:id="rId17"/>
    <p:sldId id="282" r:id="rId18"/>
    <p:sldId id="270" r:id="rId19"/>
    <p:sldId id="295" r:id="rId20"/>
    <p:sldId id="296" r:id="rId21"/>
    <p:sldId id="297" r:id="rId22"/>
    <p:sldId id="298" r:id="rId23"/>
    <p:sldId id="299" r:id="rId24"/>
    <p:sldId id="271" r:id="rId25"/>
    <p:sldId id="291" r:id="rId26"/>
    <p:sldId id="292" r:id="rId27"/>
    <p:sldId id="293" r:id="rId28"/>
    <p:sldId id="294" r:id="rId29"/>
    <p:sldId id="272" r:id="rId30"/>
    <p:sldId id="287" r:id="rId31"/>
    <p:sldId id="288" r:id="rId32"/>
    <p:sldId id="289" r:id="rId33"/>
    <p:sldId id="290" r:id="rId34"/>
    <p:sldId id="273" r:id="rId35"/>
    <p:sldId id="286" r:id="rId36"/>
    <p:sldId id="284" r:id="rId37"/>
    <p:sldId id="285" r:id="rId38"/>
    <p:sldId id="274" r:id="rId39"/>
    <p:sldId id="259" r:id="rId40"/>
  </p:sldIdLst>
  <p:sldSz cx="12192000" cy="6858000"/>
  <p:notesSz cx="6858000" cy="9144000"/>
  <p:embeddedFontLst>
    <p:embeddedFont>
      <p:font typeface="Libre Baskerville" panose="02000000000000000000" pitchFamily="2" charset="0"/>
      <p:regular r:id="rId42"/>
      <p:bold r:id="rId43"/>
      <p: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8" autoAdjust="0"/>
    <p:restoredTop sz="94660"/>
  </p:normalViewPr>
  <p:slideViewPr>
    <p:cSldViewPr snapToGrid="0">
      <p:cViewPr varScale="1">
        <p:scale>
          <a:sx n="65" d="100"/>
          <a:sy n="65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CF30-6A79-9DC2-63EE-67E324949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7C648-E9E6-7683-CA32-C6B3E7D66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6A31-2819-BAF8-8045-843A1AB4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9443-8533-60FE-BB77-CD736C04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3B47F-20AA-604A-A0B7-DDD2021E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1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F67F-1F3E-0E63-4EE0-84668895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C24F9-01E9-F7B0-9A2D-E999E0C88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DA221-1D4C-5969-7A05-0F699B90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2F06-485F-BFD4-2CF8-0E9704475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72078-C7C1-8E90-25D1-5A863F563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44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99A64-FFAC-F306-A459-8693A18A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018A9-0187-4532-DD3A-8D369EB96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E5E73-B511-DB3B-CDF8-72DFC91F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6E67C-03C9-7C37-CD59-1C722E79E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BEFE4-DC2D-3644-824C-94BD4DC3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0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565D-545A-7A8F-946F-F56ADE791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CDE7-B9F9-A29B-D447-1CE7E115D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E065A-E041-5F82-E294-A9FF53C1A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1251B-052A-0711-7B55-83BBE9D6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D0657-AD2B-7C15-7839-79D3EDBD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F322D-9599-3397-FC1F-A2DA57D4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0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748F-91A0-A35A-BA6E-4F844AC5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DD946-DBA6-3492-7003-E095A0FA1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625C8-FB54-207D-2C95-6E3A32EDC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69C6C-A5CA-A0F6-38BA-ADBC2EF5B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61D04-8DB2-75E3-610C-C637DBFFA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90A02-82E8-4480-4247-22100DE2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8826A-DEE5-8708-59DB-8CD5C9F3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81428C-4D36-42DC-C7D3-061EE1B6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9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D51A-953E-E421-9D0D-847F8F49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6FAA-11D4-ECA5-3332-1BAA8E16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7BCC04-8246-86E2-1452-FFD0C5B07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73422-1923-DC8C-20CD-63EDC477B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05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B557F3-A7C4-B03E-0CAB-998707F7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C90C4-A027-15C6-DFE1-DDB758CB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F3736-E02A-035D-1F4E-8F76DC5B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360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120E-6998-B50A-8547-4EFC642A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24C1-FDDC-9307-4A38-694DA6BCF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2A574-1BB0-2226-33DB-083AFD8E0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6A5E8-CBE5-BC68-81D7-5C48FF94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C83BF-C29A-98C9-945E-690F7318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BBD5B-62AC-1CBB-1397-7B4110BA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97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B9E4D-0FD0-E67B-C520-1ED1FD41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B2B85-A179-4823-CFC7-6D56FD63AD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560A5-2C34-DA90-7073-F2B1318D8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EBDE8-6901-1C56-ECFF-E80B2FF3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CDF54-C20D-CBF4-80F9-4DDAF7BB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C5F44-0AD2-2648-57CB-972A809F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3430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06F7-7CD9-C4EB-37C6-007CDD9B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AE264-D980-73EB-1EC4-EFD1AF04B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53422-42BA-D77B-E50A-DFFD4D33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6EE26-329B-4232-2376-2B4A68D4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FF56-09C7-3B6E-2A6E-1634E5A8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95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A721BA-981D-01F5-2A33-58FBD39F9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45A9B-31FC-4F99-20CA-BCE87E3DC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96CA4-65AD-6A98-1C60-24DE4E7E7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C08C7-3F14-A55D-FF40-C8A442C2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30047-B164-9AA0-D04E-90C8DCAE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481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4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2B326-51D2-FA5C-A1A3-EFD85FA3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62037-D514-9CDA-FB99-90C23A6DE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EAA8A-5B37-4F44-F860-41F47BD1B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C2B53-0287-4066-47D5-3B5D0076D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1B15-41B6-CC70-022A-C43FCAE65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6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1.png">
            <a:extLst>
              <a:ext uri="{FF2B5EF4-FFF2-40B4-BE49-F238E27FC236}">
                <a16:creationId xmlns:a16="http://schemas.microsoft.com/office/drawing/2014/main" id="{94D9C173-E71F-D765-8EA5-126AA06D471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11161" y="160847"/>
            <a:ext cx="10028903" cy="1932039"/>
          </a:xfrm>
          <a:prstGeom prst="rect">
            <a:avLst/>
          </a:prstGeom>
          <a:ln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D6CEA86-357E-DBCC-F29E-3A19B38A8FA7}"/>
              </a:ext>
            </a:extLst>
          </p:cNvPr>
          <p:cNvSpPr/>
          <p:nvPr/>
        </p:nvSpPr>
        <p:spPr>
          <a:xfrm>
            <a:off x="2112254" y="2635454"/>
            <a:ext cx="7967501" cy="12464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7500" b="1" i="0" u="none" strike="noStrik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Project on MySQL</a:t>
            </a:r>
            <a:endParaRPr lang="en-US" sz="75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5F891C-4E5C-882B-3E61-084E2C1CBCE2}"/>
              </a:ext>
            </a:extLst>
          </p:cNvPr>
          <p:cNvSpPr/>
          <p:nvPr/>
        </p:nvSpPr>
        <p:spPr>
          <a:xfrm>
            <a:off x="0" y="4424517"/>
            <a:ext cx="12192000" cy="1292662"/>
          </a:xfrm>
          <a:prstGeom prst="rect">
            <a:avLst/>
          </a:prstGeom>
          <a:noFill/>
          <a:scene3d>
            <a:camera prst="orthographicFront"/>
            <a:lightRig rig="threePt" dir="t">
              <a:rot lat="0" lon="0" rev="3000000"/>
            </a:lightRig>
          </a:scene3d>
          <a:sp3d>
            <a:bevelT w="152400" prst="angle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3600000"/>
              </a:lightRig>
            </a:scene3d>
            <a:sp3d extrusionH="57150" prstMaterial="matte">
              <a:bevelT w="63500" h="12700" prst="riblet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7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Grocery</a:t>
            </a:r>
            <a:r>
              <a:rPr lang="en-IN" sz="7800" i="0" u="none" strike="noStrike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N" sz="7800" b="1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Store Management </a:t>
            </a:r>
            <a:endParaRPr lang="en-US" sz="7800" b="1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glitter pattern="hexagon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" y="989456"/>
            <a:ext cx="8401050" cy="5940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Retail and Grocery domain requires effective management of inventory, suppliers, customer orders, employees, and product categories.</a:t>
            </a:r>
          </a:p>
          <a:p>
            <a:pPr lvl="0" algn="just"/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handling helps businesses track sales and revenue, monitor product availability, and analyze operations.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 project  simulates  a  mini  grocery  store  database  with  interconnected  entities  like products, orders, and suppliers.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offers hands-on experience in understanding data relationships and operational workflows.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use SQL to extract and transform data, gaining valuable business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improve decision-making and operational efficiency through data analysis.</a:t>
            </a:r>
          </a:p>
          <a:p>
            <a:pPr algn="just"/>
            <a:endParaRPr lang="en-US" sz="2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2301588" y="232366"/>
            <a:ext cx="6099463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5400" b="1" i="0" u="none" strike="noStrike" cap="none" dirty="0">
                <a:solidFill>
                  <a:srgbClr val="FF0000"/>
                </a:solidFill>
                <a:latin typeface="Libre Baskerville" panose="02000000000000000000" pitchFamily="2" charset="0"/>
                <a:ea typeface="Lato Black"/>
                <a:cs typeface="Times New Roman" panose="02020603050405020304" pitchFamily="18" charset="0"/>
                <a:sym typeface="Lato Black"/>
              </a:rPr>
              <a:t> </a:t>
            </a:r>
            <a:r>
              <a:rPr lang="en-US" sz="5400" b="1" dirty="0">
                <a:solidFill>
                  <a:srgbClr val="FF0000"/>
                </a:solidFill>
                <a:latin typeface="Libre Baskerville" panose="02000000000000000000" pitchFamily="2" charset="0"/>
                <a:ea typeface="Lato Black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1CA8D452-1308-F45F-1867-7113013FD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057" y="0"/>
            <a:ext cx="4974336" cy="751427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672E-5504-96F7-59A1-7ADCC23DE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480"/>
            <a:ext cx="10515600" cy="92123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Libre Baskerville" panose="02000000000000000000" pitchFamily="2" charset="0"/>
                <a:cs typeface="Times New Roman" panose="02020603050405020304" pitchFamily="18" charset="0"/>
              </a:rPr>
              <a:t>Tables</a:t>
            </a:r>
            <a:endParaRPr lang="en-US" sz="5400" dirty="0">
              <a:solidFill>
                <a:srgbClr val="FF0000"/>
              </a:solidFill>
              <a:latin typeface="Libre Baskerville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21AAE-AAD6-07C4-BA24-CFB5B3320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765" y="1177871"/>
            <a:ext cx="5624593" cy="5315003"/>
          </a:xfrm>
        </p:spPr>
        <p:txBody>
          <a:bodyPr>
            <a:normAutofit/>
          </a:bodyPr>
          <a:lstStyle/>
          <a:p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Products Table</a:t>
            </a:r>
          </a:p>
          <a:p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Table</a:t>
            </a:r>
          </a:p>
          <a:p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04A9F-D8C2-82D8-A583-A6C908BF5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9765" y="1177872"/>
            <a:ext cx="5628470" cy="5680128"/>
          </a:xfrm>
        </p:spPr>
        <p:txBody>
          <a:bodyPr>
            <a:normAutofit/>
          </a:bodyPr>
          <a:lstStyle/>
          <a:p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 Table</a:t>
            </a:r>
          </a:p>
          <a:p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00000"/>
              </a:lnSpc>
              <a:buNone/>
            </a:pPr>
            <a:endParaRPr lang="en-US" altLang="en-U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 Table</a:t>
            </a:r>
          </a:p>
          <a:p>
            <a:pPr marL="114300" indent="0">
              <a:buNone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4">
            <a:extLst>
              <a:ext uri="{FF2B5EF4-FFF2-40B4-BE49-F238E27FC236}">
                <a16:creationId xmlns:a16="http://schemas.microsoft.com/office/drawing/2014/main" id="{BD7E5487-598A-ACF9-FA6F-6E46AF9ADAB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65" y="1878791"/>
            <a:ext cx="5485110" cy="229450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18">
            <a:extLst>
              <a:ext uri="{FF2B5EF4-FFF2-40B4-BE49-F238E27FC236}">
                <a16:creationId xmlns:a16="http://schemas.microsoft.com/office/drawing/2014/main" id="{3D9E7807-6D53-6C02-5AC7-D8A24FC24C0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3765" y="5121735"/>
            <a:ext cx="5485110" cy="1687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15">
            <a:extLst>
              <a:ext uri="{FF2B5EF4-FFF2-40B4-BE49-F238E27FC236}">
                <a16:creationId xmlns:a16="http://schemas.microsoft.com/office/drawing/2014/main" id="{1AC5D376-DEEB-9D56-C723-DB0AC9876133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500246" y="1822691"/>
            <a:ext cx="5024035" cy="2066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 19" descr="    (Shape)">
            <a:extLst>
              <a:ext uri="{FF2B5EF4-FFF2-40B4-BE49-F238E27FC236}">
                <a16:creationId xmlns:a16="http://schemas.microsoft.com/office/drawing/2014/main" id="{CE1F99AA-8225-6C62-334A-190AF3B56A74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60211" y="4762235"/>
            <a:ext cx="5367578" cy="18357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595089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5A81-5A07-C015-3E51-4AB94D8A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47235"/>
            <a:ext cx="10515600" cy="97818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Libre Baskerville" panose="02000000000000000000" pitchFamily="2" charset="0"/>
                <a:cs typeface="Times New Roman" panose="02020603050405020304" pitchFamily="18" charset="0"/>
              </a:rPr>
              <a:t>Tables</a:t>
            </a:r>
            <a:endParaRPr lang="en-US" sz="5400" dirty="0">
              <a:latin typeface="Libre Baskerville" panose="0200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26A44-9B23-9382-ED9A-935AAC106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9264" y="1253330"/>
            <a:ext cx="5361122" cy="5457435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Table</a:t>
            </a: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Table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8A132-6EF2-F101-2819-379176C2D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53330"/>
            <a:ext cx="5606512" cy="5069977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Table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0">
            <a:extLst>
              <a:ext uri="{FF2B5EF4-FFF2-40B4-BE49-F238E27FC236}">
                <a16:creationId xmlns:a16="http://schemas.microsoft.com/office/drawing/2014/main" id="{10733D52-8462-9541-D1C2-4B1FEFDB7BE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0979" y="2039239"/>
            <a:ext cx="5641221" cy="17113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Image 21">
            <a:extLst>
              <a:ext uri="{FF2B5EF4-FFF2-40B4-BE49-F238E27FC236}">
                <a16:creationId xmlns:a16="http://schemas.microsoft.com/office/drawing/2014/main" id="{25E8E557-547B-EA32-6FB2-C7787AAFF4E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34014" y="2039239"/>
            <a:ext cx="4797209" cy="15913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24">
            <a:extLst>
              <a:ext uri="{FF2B5EF4-FFF2-40B4-BE49-F238E27FC236}">
                <a16:creationId xmlns:a16="http://schemas.microsoft.com/office/drawing/2014/main" id="{331F6152-7B06-7467-5EF6-F1DB432DDD1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0979" y="4626482"/>
            <a:ext cx="8210065" cy="19563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823579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9B35D-7D9E-0391-34D3-7F3C6ADB8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217642"/>
            <a:ext cx="10515600" cy="96223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rgbClr val="FF0000"/>
                </a:solidFill>
                <a:latin typeface="Libre Baskerville" panose="02000000000000000000" pitchFamily="2" charset="0"/>
                <a:cs typeface="Times New Roman" panose="02020603050405020304" pitchFamily="18" charset="0"/>
              </a:rPr>
              <a:t>ER Diagram</a:t>
            </a:r>
            <a:endParaRPr lang="en-US" sz="5400" dirty="0">
              <a:solidFill>
                <a:srgbClr val="FF0000"/>
              </a:solidFill>
              <a:latin typeface="Libre Baskerville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Image 27">
            <a:extLst>
              <a:ext uri="{FF2B5EF4-FFF2-40B4-BE49-F238E27FC236}">
                <a16:creationId xmlns:a16="http://schemas.microsoft.com/office/drawing/2014/main" id="{D59276DB-D6D7-5BCD-E422-627CA6E8A0D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483" y="1179872"/>
            <a:ext cx="11842955" cy="546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461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CFED-E298-58BF-7167-90B88ED4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79" y="226295"/>
            <a:ext cx="8596668" cy="909484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FF0000"/>
                </a:solidFill>
                <a:latin typeface="Libre Baskerville" panose="02000000000000000000" pitchFamily="2" charset="0"/>
                <a:cs typeface="Times New Roman" panose="02020603050405020304" pitchFamily="18" charset="0"/>
              </a:rPr>
              <a:t>Problem Statement</a:t>
            </a:r>
            <a:endParaRPr lang="en-US" sz="5000" dirty="0">
              <a:solidFill>
                <a:srgbClr val="FF0000"/>
              </a:solidFill>
              <a:latin typeface="Libre Baskerville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C36FD-A620-6A88-C832-841C2C2EE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5779"/>
            <a:ext cx="7226710" cy="476661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dynamic environment of a retail grocery store, managing and analyzing large volumes of data related to products, suppliers, customers, and orders is crucial for efficient operations and informed decision-making.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aims to design and implement a relational database system that captures essential store activities and enables users to retrieve and analyze data through SQL.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support complex queries to identify key business insights such as top-performing products, high-value customers, and revenue patterns, while reinforcing practical SQL skills including joins, aggregations, subqueries, and filtering.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E55B053-DCEA-1981-5DAE-17EB9E13B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135" y="1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3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A70B-F962-5BF2-DAD7-109396DC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67" y="1915655"/>
            <a:ext cx="10515600" cy="3026690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1️. Customer Insights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808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1DC6-441C-E3D3-DC5C-CAD98BD6D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13" y="299884"/>
            <a:ext cx="11487764" cy="1320800"/>
          </a:xfrm>
        </p:spPr>
        <p:txBody>
          <a:bodyPr>
            <a:noAutofit/>
          </a:bodyPr>
          <a:lstStyle/>
          <a:p>
            <a:pPr algn="ctr"/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Q1.1. How many unique customers have placed orders?</a:t>
            </a: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10E3313-8AA4-B12C-FA9D-A91055CC0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4968" y="1858296"/>
            <a:ext cx="5914103" cy="4699819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BC673-72B5-777F-CDAD-C637ED0B7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1521" y="1858296"/>
            <a:ext cx="5357692" cy="4699819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921D97-E475-DCBE-9AFA-6A0F4B25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2" y="2718619"/>
            <a:ext cx="5558913" cy="14895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B1A3C1-FA93-4DEA-9D69-EE9EE33FC6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309"/>
          <a:stretch>
            <a:fillRect/>
          </a:stretch>
        </p:blipFill>
        <p:spPr>
          <a:xfrm>
            <a:off x="6773333" y="2738595"/>
            <a:ext cx="4538679" cy="14895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758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1A44-8352-C579-9A8F-7720F6922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1" y="365125"/>
            <a:ext cx="11474247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Q1.2. Which customers have placed the highest number of orders?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DA72-45E0-5A0C-66DB-298934A3A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9212" y="2160588"/>
            <a:ext cx="4522157" cy="4697412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3058D-0F59-9390-101F-642615872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5092" y="2160587"/>
            <a:ext cx="5936907" cy="4490935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14D03-DABB-6F41-12BA-A693A0F6B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85" y="3132034"/>
            <a:ext cx="5073445" cy="33130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35BAC6-6E19-E8C3-55E3-C58276751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17" y="3323763"/>
            <a:ext cx="5026198" cy="16759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044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C84C-0D35-13F5-E181-D95BAF3D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39" y="365125"/>
            <a:ext cx="11276235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Q1.3. What is the total and average purchase value per customer?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0E550-AC6B-D181-08AE-AA4750D012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0766" y="2011466"/>
            <a:ext cx="4809204" cy="3622418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D9C5-0F9F-9140-01C7-3C39851C9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5676" y="2011466"/>
            <a:ext cx="6675558" cy="4846534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4E39C-5DF1-A434-3044-E8422C39A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2" y="2798384"/>
            <a:ext cx="4661728" cy="37407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A726BA-368D-4600-318E-3B526AB8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782" y="2733458"/>
            <a:ext cx="5735345" cy="37522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6458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3330-7C02-7C07-E2BF-5861FE40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41" y="365125"/>
            <a:ext cx="11449665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Q1.4. Who are the top 5 customers by total purchase amount?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DF99-6051-FCD5-D955-98DC714F1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048" y="2035177"/>
            <a:ext cx="5576120" cy="4697412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/>
          </a:p>
          <a:p>
            <a:endParaRPr lang="en-US" sz="3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3BB78-EC82-DF99-798F-32253D7BE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6168" y="2160589"/>
            <a:ext cx="6295784" cy="4520430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86EEF-FE54-7834-C536-BA81590A05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29"/>
          <a:stretch>
            <a:fillRect/>
          </a:stretch>
        </p:blipFill>
        <p:spPr>
          <a:xfrm>
            <a:off x="6096000" y="2841752"/>
            <a:ext cx="4980039" cy="34066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E8A63F-DB28-1395-DF44-53F864CED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41" y="2617426"/>
            <a:ext cx="4768646" cy="36309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169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023C2-0813-E1E0-91B6-149A3DF8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2751"/>
            <a:ext cx="12191999" cy="3372497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Product Performance</a:t>
            </a:r>
          </a:p>
        </p:txBody>
      </p:sp>
    </p:spTree>
    <p:extLst>
      <p:ext uri="{BB962C8B-B14F-4D97-AF65-F5344CB8AC3E}">
        <p14:creationId xmlns:p14="http://schemas.microsoft.com/office/powerpoint/2010/main" val="282038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FFF28-006D-5088-6C61-079FDD2FD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7" y="365125"/>
            <a:ext cx="11385755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Q2.1. How many products exist in each category?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B0B14-7926-1203-602F-D6EF489BD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484" y="1690688"/>
            <a:ext cx="5872316" cy="5034577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IN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ACA39-EDC6-4021-1DF2-4D340AC47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72316" cy="4899640"/>
          </a:xfrm>
        </p:spPr>
        <p:txBody>
          <a:bodyPr>
            <a:norm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702F7D-40FC-CB50-E6E1-0CB130A61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7" y="2503538"/>
            <a:ext cx="4527756" cy="3511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B95DEE-B3E8-3113-7F49-69CC75052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16891"/>
            <a:ext cx="5685502" cy="35978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5440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1EBFE-2F10-2F1D-7E12-9D507E7E5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90" y="365125"/>
            <a:ext cx="11120284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Q2.2. What is the average price of products by category?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002B-9566-0AE8-7F55-07C048969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232" y="1690688"/>
            <a:ext cx="5857568" cy="501982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AF2C1-534D-CFAA-7BEE-D74EA6986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0" y="1825624"/>
            <a:ext cx="6172200" cy="48848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F8E546-0115-E206-512E-DF298AA4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233" y="2537797"/>
            <a:ext cx="5294979" cy="34942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F54BFD-59C8-84D7-5CD9-B60B7A818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32" y="2670532"/>
            <a:ext cx="5544279" cy="33615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232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38E4-1C53-F95D-2949-0FA2A4FD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45" y="365125"/>
            <a:ext cx="11164529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Q2.3. Which products have the highest total sales volume (by quantity)?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AAE02-A411-43E1-5E67-5C14F152F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0219" y="1825625"/>
            <a:ext cx="5739581" cy="492913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25CC7-20FD-8EFD-D4EE-CF8FBD1DC3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739581" cy="492913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96AAB5-F118-597B-61CC-D841EDA6E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" y="2633355"/>
            <a:ext cx="4791229" cy="3859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FE9B0E-18F4-2A49-B7C3-6E7177D5E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377" y="2808746"/>
            <a:ext cx="4793224" cy="15994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980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EC8F-A6F4-1197-408A-AC2D01628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379873"/>
            <a:ext cx="11430000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Q2.4. What is the total revenue generated by each product?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BED07-B5DE-E1FB-E129-8C2F8BB96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4"/>
            <a:ext cx="6019800" cy="487014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C49A9-5082-7093-43AE-25595851F2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B6B2D-C91F-C4AC-94CB-C198DCF8E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78" y="2689735"/>
            <a:ext cx="5560142" cy="29146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365608-59F4-DBB7-737B-1A8B04BA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761" y="2571749"/>
            <a:ext cx="4321278" cy="41240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838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2D45-1765-F39B-AA89-25CF85C6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03" y="365125"/>
            <a:ext cx="11385755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Q2.5. How do product sales vary by category and supplier?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0D9D-2E8D-4474-EED7-F3DC9E4F0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484" y="1690688"/>
            <a:ext cx="5872316" cy="516731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74E81-E099-D2AB-1B67-CDA0F6C1E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872316" cy="48848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271ECC-4EB8-655A-3EA7-97A7D5EB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4" y="2419042"/>
            <a:ext cx="4522170" cy="40738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BC586-BD71-C617-BB3C-FED5956D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780" y="2419041"/>
            <a:ext cx="5670756" cy="40738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751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B92E-9C23-2E91-D62A-8B765CFA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393" y="1390036"/>
            <a:ext cx="11763214" cy="4337130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Sales and Order Trends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5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73F1-06C9-7A38-908C-3DE5F25D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EAD12-7498-275E-5CBF-7CB34759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365125"/>
            <a:ext cx="1128251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Q3.1. How many orders have been placed in total?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240E9-4F80-2D99-1458-12E6491AC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8710" y="1825625"/>
            <a:ext cx="5651090" cy="46672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E5259-D581-11BC-EA1E-C53585EF3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13171-CAF8-82BE-A367-1831480BA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2826973"/>
            <a:ext cx="5879690" cy="1451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9E48CD-F1D3-6496-50B9-7E655B46C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91" y="2708017"/>
            <a:ext cx="4395018" cy="16889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90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C628D-5A3B-ED63-C591-92C014CA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7BD1-2926-7700-A0C1-3E963F99E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03" y="365125"/>
            <a:ext cx="11267768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Q3.2. What is the average value per order?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0AEA4-30AC-FCE0-143B-5742651A2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484" y="1825625"/>
            <a:ext cx="5872316" cy="46672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CEBB1-A110-754A-4040-0A4DD89E1E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4F05C-DDE4-2269-8D6E-4C61F28B4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5" y="2850122"/>
            <a:ext cx="6135328" cy="16038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E5C12C-EEF6-78FF-06DB-DDB5F8F29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938"/>
          <a:stretch>
            <a:fillRect/>
          </a:stretch>
        </p:blipFill>
        <p:spPr>
          <a:xfrm>
            <a:off x="6430296" y="2850121"/>
            <a:ext cx="5365288" cy="16038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672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815F-8AB4-6078-F548-61D67D45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005A-A955-E280-29F4-5F3EC7012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5" y="365125"/>
            <a:ext cx="11356259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Q3.3. On which dates were the most orders placed?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76220-3805-4A44-2404-F86C04D59B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8205" y="1825624"/>
            <a:ext cx="5621595" cy="48848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8780D-906C-4455-0367-9195AA073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82264" cy="4884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059A7-4ABB-E5A4-E353-5F74523D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05" y="2670071"/>
            <a:ext cx="5219751" cy="22263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744466-CE26-178E-FFE7-EC729D868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70" y="2511834"/>
            <a:ext cx="5498372" cy="34465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7230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3885-4919-D2AD-1129-6870065C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FE5D3-0AA4-7FC8-D78E-44D56EEE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365125"/>
            <a:ext cx="1147424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Q3.4. What are the monthly trends in order volume and revenue?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D1CE7-FAB3-C63A-2075-08AAA6D4D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0219" y="1825624"/>
            <a:ext cx="5739581" cy="488489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43BDF-5D35-A10D-6922-D3D8C9ED9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6619" y="1825624"/>
            <a:ext cx="6145162" cy="5032375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D6BA5-2A42-22A7-84A7-BF4968F05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" y="2366193"/>
            <a:ext cx="4896464" cy="39018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3CE68F-FDF2-A03A-12AB-B529C48AA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543174"/>
            <a:ext cx="5766204" cy="3724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1928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040D-6516-08B4-3C9B-C67CDB8A2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8FF3-5FF8-6B50-9EE9-09BD23D2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365125"/>
            <a:ext cx="1147424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Q3.5. How do order patterns vary across weekdays and weekends?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31DAF-78CE-21EB-68FF-09E03D9965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42BDD-8C13-0175-0F08-454F407016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073B6-9349-DDE5-7793-F3EC4ECB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30" y="2412898"/>
            <a:ext cx="5734512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FFDFBF-D9D1-6875-E6E6-95D837F8F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299" y="2420383"/>
            <a:ext cx="4544501" cy="43438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4906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7921-E081-6842-9CD8-922C7ECB9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86" y="1539014"/>
            <a:ext cx="11639227" cy="3779972"/>
          </a:xfrm>
        </p:spPr>
        <p:txBody>
          <a:bodyPr>
            <a:normAutofit/>
          </a:bodyPr>
          <a:lstStyle/>
          <a:p>
            <a:pPr algn="ctr"/>
            <a:r>
              <a:rPr lang="en-US" sz="8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4️. Supplier Contribution</a:t>
            </a:r>
            <a:endParaRPr lang="en-US" sz="8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730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C238-5FAC-99F5-B135-00FCD64C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7A723-E5F9-005C-1521-43228867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365125"/>
            <a:ext cx="1128251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Q4.1. How many suppliers are there in the database?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1D1F0-5F94-F574-C3F5-245AB1175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8710" y="1825625"/>
            <a:ext cx="5651090" cy="46672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F310A-0B38-64F3-C510-93809DA3A09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637705-6066-BA2E-F5C7-E6EB7898D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19" y="2766218"/>
            <a:ext cx="5154131" cy="15550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A829C3-8C99-DFC5-1278-C10C54103F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340"/>
          <a:stretch>
            <a:fillRect/>
          </a:stretch>
        </p:blipFill>
        <p:spPr>
          <a:xfrm>
            <a:off x="6942803" y="2774679"/>
            <a:ext cx="3433014" cy="15381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317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2FFDB-7170-5C0D-A764-9570E6FB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C283-FB7A-C749-D3EB-D72FCEB42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03" y="365125"/>
            <a:ext cx="11267768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Q4.2. Which supplier provides the most products?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8791E-7A95-D557-4C32-EA753D5995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2B729-2029-52B4-792A-12E018D7C4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570C19-8501-63EF-2B8C-C693D43B8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3" y="2609081"/>
            <a:ext cx="5368413" cy="31722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4AA06D-4660-9A35-C078-47A9AEDE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069" y="2609080"/>
            <a:ext cx="4360454" cy="31722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3118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F853-96E2-D6A8-F772-C9DDA232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5127-B9A0-54C0-EFBD-203ABCB8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5" y="365125"/>
            <a:ext cx="11356259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Q4.3. What is the average price of products from each supplier?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94D33-D92A-838B-0421-EE1EBFBA31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A94A6-4D54-853E-182C-95D9E3ECEC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AEB43-48AB-CD63-5E10-E72F6426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3" y="2438246"/>
            <a:ext cx="5515896" cy="36233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E01C4D-1202-E034-D8C9-CFCCCFFDF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610" y="2585882"/>
            <a:ext cx="5132090" cy="3475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991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8BBC-79EB-B41F-22EA-39CBC57D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6A645-72FE-0117-0A82-5C0CFD42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365125"/>
            <a:ext cx="1147424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Q4.4. Which suppliers contribute the most to total product sales (by revenue)?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1535-F5B8-8E66-32AF-5534BCF34F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5E296-6F5C-FD97-B264-81AFDB9A3E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6E3B5F-808D-256E-4297-6CA49944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93" y="2633661"/>
            <a:ext cx="5181600" cy="3859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D5D0E3-A452-6D0D-A3C4-F1D0C9CCD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007" y="2867024"/>
            <a:ext cx="4761270" cy="33099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625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A275-0019-8B04-C09A-313ADFEE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96" y="1550315"/>
            <a:ext cx="11825207" cy="3757370"/>
          </a:xfrm>
        </p:spPr>
        <p:txBody>
          <a:bodyPr>
            <a:normAutofit/>
          </a:bodyPr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5️. Employee Performance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30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64C6-ECAB-EAEF-7096-B27C097A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10" y="365125"/>
            <a:ext cx="1128251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Q5.1. How many employees have processed orders?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D157B-7BBA-84AF-8311-EE1ED77B7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8710" y="1825625"/>
            <a:ext cx="5651090" cy="466725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C0FBC-DDF5-CBA9-7607-F7692042D4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2B9035-CBFF-545F-88B5-1060DF76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2890222"/>
            <a:ext cx="5955890" cy="13255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C40D6E-F245-02AA-8C58-7C0DDF93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755" y="2806648"/>
            <a:ext cx="4135008" cy="14091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0705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27C3-AA21-020F-0D93-3DF19840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03" y="365125"/>
            <a:ext cx="11267768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Q5.2. Which employees have handled the most orders?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FCC76-F09D-FE12-843C-349C8F349D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AF239-DF05-30C3-C0A8-DAF1DF89C8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D17C72-BA8C-9E8F-6529-42E99C3B6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82" y="2656834"/>
            <a:ext cx="4877451" cy="35201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93EF3A-D87A-A6C3-FE9E-3D38A2093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989" y="2675731"/>
            <a:ext cx="6059129" cy="13255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780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91CD-3F7E-8672-28F8-D8143146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5" y="365125"/>
            <a:ext cx="11356259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Q5.3. What is the total sales value processed by each employee?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B8778-A352-4FF9-E9B4-D5AB37092F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DC4F2-BFB8-0E66-E1A9-6E94DF607D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858467-FDE3-6B64-6D9C-ACF2378E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8" y="2476498"/>
            <a:ext cx="5667950" cy="4234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9F7025-0FBD-561F-819F-3543F2C6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943" y="2476499"/>
            <a:ext cx="5292521" cy="42340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536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9BC1-85DD-E0BA-0BD4-5C69268A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365125"/>
            <a:ext cx="11474246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Q5.4. What is the average order value handled per employee?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DBB8-9B1A-7A7E-4EC3-4DD76A812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76006B-DFFF-E397-5CC4-60BC4D6EE6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97A91-C773-2148-E9F1-184A0D13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2" y="2614612"/>
            <a:ext cx="5857568" cy="40664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89B7A9-A804-5BC4-386B-3DFF2BFA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259" y="2614612"/>
            <a:ext cx="4699205" cy="40664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5279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4B18A-95DE-4C18-C81F-8C25F26B0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89613"/>
            <a:ext cx="11778712" cy="3878774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6️. Order Details Deep Dive</a:t>
            </a: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19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8564-EE4C-0646-7882-DBFC0E5BE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" y="365125"/>
            <a:ext cx="11488993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Q6.1. What is the relationship between quantity ordered and total price?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A5C0-36EC-4418-68B0-7EDB3F2039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8035-DC2F-18B8-C2A3-CD69D9BB7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B287B7-4F5B-9B07-E3C4-3CBA8E56A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2546399"/>
            <a:ext cx="5029200" cy="3057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0E33C8-AF38-8813-00F8-40A5A83C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555" y="2546399"/>
            <a:ext cx="5334000" cy="31950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986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6CC9-EFD8-CDDC-5622-2D35D6EE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365125"/>
            <a:ext cx="11518491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Q6.2. What is the average quantity ordered per product?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A9F1-BB73-FD25-7D6E-32B483ACF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310" y="1825624"/>
            <a:ext cx="5803490" cy="50323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4CFEF-BBFD-8407-D54B-DBEE0BB72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4964" y="1825625"/>
            <a:ext cx="5803490" cy="48848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D5E28D-BCC6-D662-B46A-4E8AE760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97" y="2596047"/>
            <a:ext cx="5338915" cy="33440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647687-046A-33BA-9CF2-B6F3B011E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877" y="2570059"/>
            <a:ext cx="5578578" cy="4140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6168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E79D1-1558-37C8-8B6E-47F6842F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13" y="365125"/>
            <a:ext cx="11518490" cy="1325563"/>
          </a:xfrm>
        </p:spPr>
        <p:txBody>
          <a:bodyPr>
            <a:no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Q6.3. How does the unit price vary across products and orders?</a:t>
            </a:r>
            <a:endParaRPr lang="en-US" sz="4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3753-1BCF-BD92-4A1C-1AAF73EA86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981" y="1825624"/>
            <a:ext cx="6209071" cy="503237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:-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51B20-D737-2698-688D-278D0A1F1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842819" cy="48848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:-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C80AC-0486-E27B-B621-5F70FAD85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137" y="2505869"/>
            <a:ext cx="4768339" cy="39870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6664A7-BE4C-59E7-67F9-FF032BBEC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13" y="2505868"/>
            <a:ext cx="5638902" cy="33787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875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0FB2-D169-FA6D-D9D3-AF1D1AB4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8" y="250031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b="1" dirty="0">
                <a:solidFill>
                  <a:srgbClr val="FF0000"/>
                </a:solidFill>
                <a:latin typeface="Libre Baskerville" panose="02000000000000000000" pitchFamily="2" charset="0"/>
                <a:cs typeface="Times New Roman" panose="02020603050405020304" pitchFamily="18" charset="0"/>
              </a:rPr>
              <a:t>CONCLUSION</a:t>
            </a:r>
            <a:endParaRPr lang="en-US" sz="6000" b="1" dirty="0">
              <a:solidFill>
                <a:srgbClr val="FF0000"/>
              </a:solidFill>
              <a:latin typeface="Libre Baskerville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C3316-4B06-D9BA-A84E-D8614D3C8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477" y="1825625"/>
            <a:ext cx="7016187" cy="4351338"/>
          </a:xfrm>
        </p:spPr>
        <p:txBody>
          <a:bodyPr>
            <a:normAutofit fontScale="92500" lnSpcReduction="20000"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 relational database can efficiently manage and analyse grocery store operations. 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structured data storage through linked tables for products, orders, suppliers, customers, and employees. 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help uncover insights on sales, customer behaviour, and supplier or employee performance. 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support better decision-making, improving efficiency and overall store performance.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1FD0AD0-DFD1-9B61-7FDD-0FE896D96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664" y="0"/>
            <a:ext cx="4974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6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8721" y="1418752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54983" y="1735810"/>
            <a:ext cx="6311533" cy="344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10000" b="1" i="0" u="none" strike="noStrike" cap="none" dirty="0"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00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1190</TotalTime>
  <Words>722</Words>
  <Application>Microsoft Office PowerPoint</Application>
  <PresentationFormat>Widescreen</PresentationFormat>
  <Paragraphs>296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Libre Baskerville</vt:lpstr>
      <vt:lpstr>Wingdings</vt:lpstr>
      <vt:lpstr>Times New Roman</vt:lpstr>
      <vt:lpstr>Calibri</vt:lpstr>
      <vt:lpstr>Arial</vt:lpstr>
      <vt:lpstr>Calibri Light</vt:lpstr>
      <vt:lpstr>Office Theme</vt:lpstr>
      <vt:lpstr>PowerPoint Presentation</vt:lpstr>
      <vt:lpstr>PowerPoint Presentation</vt:lpstr>
      <vt:lpstr>Tables</vt:lpstr>
      <vt:lpstr>Tables</vt:lpstr>
      <vt:lpstr>ER Diagram</vt:lpstr>
      <vt:lpstr>Problem Statement</vt:lpstr>
      <vt:lpstr>1️. Customer Insights</vt:lpstr>
      <vt:lpstr>Q1.1. How many unique customers have placed orders?</vt:lpstr>
      <vt:lpstr>Q1.2. Which customers have placed the highest number of orders?</vt:lpstr>
      <vt:lpstr>Q1.3. What is the total and average purchase value per customer?</vt:lpstr>
      <vt:lpstr>Q1.4. Who are the top 5 customers by total purchase amount?</vt:lpstr>
      <vt:lpstr>2. Product Performance</vt:lpstr>
      <vt:lpstr>Q2.1. How many products exist in each category?</vt:lpstr>
      <vt:lpstr>Q2.2. What is the average price of products by category?</vt:lpstr>
      <vt:lpstr>Q2.3. Which products have the highest total sales volume (by quantity)?</vt:lpstr>
      <vt:lpstr>Q2.4. What is the total revenue generated by each product?</vt:lpstr>
      <vt:lpstr>Q2.5. How do product sales vary by category and supplier?</vt:lpstr>
      <vt:lpstr>3. Sales and Order Trends</vt:lpstr>
      <vt:lpstr>Q3.1. How many orders have been placed in total?</vt:lpstr>
      <vt:lpstr>Q3.2. What is the average value per order?</vt:lpstr>
      <vt:lpstr>Q3.3. On which dates were the most orders placed?</vt:lpstr>
      <vt:lpstr>Q3.4. What are the monthly trends in order volume and revenue?</vt:lpstr>
      <vt:lpstr>Q3.5. How do order patterns vary across weekdays and weekends?</vt:lpstr>
      <vt:lpstr>4️. Supplier Contribution</vt:lpstr>
      <vt:lpstr>Q4.1. How many suppliers are there in the database?</vt:lpstr>
      <vt:lpstr>Q4.2. Which supplier provides the most products?</vt:lpstr>
      <vt:lpstr>Q4.3. What is the average price of products from each supplier?</vt:lpstr>
      <vt:lpstr>Q4.4. Which suppliers contribute the most to total product sales (by revenue)?</vt:lpstr>
      <vt:lpstr>5️. Employee Performance</vt:lpstr>
      <vt:lpstr>Q5.1. How many employees have processed orders?</vt:lpstr>
      <vt:lpstr>Q5.2. Which employees have handled the most orders?</vt:lpstr>
      <vt:lpstr>Q5.3. What is the total sales value processed by each employee?</vt:lpstr>
      <vt:lpstr>Q5.4. What is the average order value handled per employee?</vt:lpstr>
      <vt:lpstr>6️. Order Details Deep Dive</vt:lpstr>
      <vt:lpstr>Q6.1. What is the relationship between quantity ordered and total price?</vt:lpstr>
      <vt:lpstr>Q6.2. What is the average quantity ordered per product?</vt:lpstr>
      <vt:lpstr>Q6.3. How does the unit price vary across products and orders?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Aditi Khade</cp:lastModifiedBy>
  <cp:revision>120</cp:revision>
  <dcterms:created xsi:type="dcterms:W3CDTF">2021-02-16T05:19:01Z</dcterms:created>
  <dcterms:modified xsi:type="dcterms:W3CDTF">2025-09-26T18:30:32Z</dcterms:modified>
</cp:coreProperties>
</file>